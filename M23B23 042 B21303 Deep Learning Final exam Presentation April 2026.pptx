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79" autoAdjust="0"/>
    <p:restoredTop sz="94660"/>
  </p:normalViewPr>
  <p:slideViewPr>
    <p:cSldViewPr snapToGrid="0">
      <p:cViewPr varScale="1">
        <p:scale>
          <a:sx n="73" d="100"/>
          <a:sy n="73" d="100"/>
        </p:scale>
        <p:origin x="29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A129FC-FEDA-8A0C-FB35-53843E8095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86A0622-5B86-C40B-1A1C-F699E4D7AD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6D43B3-8A0B-76A7-5F28-1490E38DFE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2DDDB7-2A74-4985-88BA-962F9D0A2D9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690C5A-2E8C-5A6A-0EA0-FCEEC73D44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554F8D-857B-5795-4A1C-038D900903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1BF43-CE61-404E-8FC3-866E602A87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55487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4EA6B-834A-0DAB-D5A8-30EE359FFC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FAA187-3439-A579-C4F5-A917764F52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14EAFB-DAA8-CED3-2DCB-81BAC7DCA8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2DDDB7-2A74-4985-88BA-962F9D0A2D9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62F332-9C1F-C78B-400C-C9C6B8DBC8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1EA200-DDFC-0C84-997F-7BDC6ED21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1BF43-CE61-404E-8FC3-866E602A87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94364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B0F244-70EF-5AF9-E619-A8ADD47739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881DE1-9807-52AB-15B5-C0A77F13E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050DD7-A1DF-A31F-1A14-A48F94845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2DDDB7-2A74-4985-88BA-962F9D0A2D9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C4758D-9829-E703-89C4-7CE2E0E5F5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7E2E0B-8D4E-BA83-0639-F433AA069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1BF43-CE61-404E-8FC3-866E602A87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97964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A58F83-F809-7E7F-D99B-ECFEEDC7B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4D13AA-DBB7-991F-480C-ADCFDDBD78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833EA6-B5F8-6BA5-EB69-E6F399499B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024CEA-E659-C637-C9E1-95647FAF69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2DDDB7-2A74-4985-88BA-962F9D0A2D9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B746F7-E418-B13E-9A00-29ECE47F0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47617D-AC73-2221-7175-6084E9C54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1BF43-CE61-404E-8FC3-866E602A87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86037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6D46AB-D4EA-D622-BC3C-0CED329784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051CFB-C32F-25F2-7B74-3BC37F9426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42747B-C4B7-BAA3-60FE-EE09FCA61C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B8FB01A-FF87-C569-5979-56402BE1D0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714546-C3F8-10F2-0BDD-90C2DA5DEE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7B1DC7E-5A46-A9F7-8BD5-475B1206CD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2DDDB7-2A74-4985-88BA-962F9D0A2D9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8F6683F-FAB3-42B2-989A-03E30FE89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249CD4-47E7-78F2-53DA-C319198690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1BF43-CE61-404E-8FC3-866E602A87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82984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CBE8CE-9779-A3C7-09D4-3722ACC6BB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72BA7E4-97EB-F860-09E6-0FDAA8053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2DDDB7-2A74-4985-88BA-962F9D0A2D9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530BD9-595C-1FA7-92A8-840AB31AF8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19CCAD-098F-EC76-8557-7067A1B59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1BF43-CE61-404E-8FC3-866E602A87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11710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3B1E137-AF15-4800-2677-0241327B0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2DDDB7-2A74-4985-88BA-962F9D0A2D9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55C2E0-D228-28C0-753B-41BBC423F1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C5C4E3-367F-DDF1-01CC-8F4938E2F4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1BF43-CE61-404E-8FC3-866E602A87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4447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2FB98F-A7E4-E24B-5A87-A33784FA85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AB9C19-B482-C138-F34B-899A202982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3CB038-F7F9-0023-5B5A-16F8C6492A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ACAFC9-1398-0B56-1F7F-CA4361751E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2DDDB7-2A74-4985-88BA-962F9D0A2D9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42326E-C63D-029E-23FE-A3ECF5939A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32AA82-D3CB-EDF5-B324-01ED5007E4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1BF43-CE61-404E-8FC3-866E602A87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1513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D3773F-D4C0-97DE-3E2C-083B8EFDF6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C7D63A9-A4D3-A46B-1DF6-ECA2F96E416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F0062D-D3F9-2BD5-1CC9-BA2BAD0408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9055D-09EC-84DC-B471-026FC062B0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2DDDB7-2A74-4985-88BA-962F9D0A2D9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3D36D7-56BE-E5AA-591A-8F468B5F26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725F5A-F150-013B-1C61-7DE69D281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1BF43-CE61-404E-8FC3-866E602A87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37746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D8F49-DBDD-62E5-8D0D-A802C1D19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7699C4-DDC7-C76E-0453-0896BBBCB4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978F43-1909-3582-BB47-A3A820B8F0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2DDDB7-2A74-4985-88BA-962F9D0A2D9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4EB00E-6EF2-4AE6-F140-9500CD972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288810-EE10-F42F-D094-EBC9F18CA6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1BF43-CE61-404E-8FC3-866E602A87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43484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F34813E-3B5B-EAA2-E9CB-005DBFB35FB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6AB2CA-0A1B-49B6-9CCB-EA361A7F44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83ABB5-06D5-BD4F-1B06-6E3877A71A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2DDDB7-2A74-4985-88BA-962F9D0A2D9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06F044-FAD5-B54E-1058-9897643ED0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4EDE80-48CB-504C-5E73-7C4BD2E16C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1BF43-CE61-404E-8FC3-866E602A87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39909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6C5BDB-5561-2436-786E-AC73A1810C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DDFBEC-4372-E1B5-6847-EECCE35ABC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8F7017-E1EE-870F-B44D-3E75CCEA8F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2DDDB7-2A74-4985-88BA-962F9D0A2D9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0AFDB3-73BE-7362-BE3B-8A7E0351E9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92F264-75AE-9221-FA26-800FF8CA11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91BF43-CE61-404E-8FC3-866E602A87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8023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2E8666-8549-8B7B-E7BC-D0B47157C31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CIFAR-10 Image Classification using CNN</a:t>
            </a:r>
            <a:br>
              <a:rPr lang="en-US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b="1" dirty="0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3EDDB5-19D7-A4CB-6322-AD97803C79D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pPr algn="l"/>
            <a:r>
              <a:rPr lang="en-US" b="1" dirty="0"/>
              <a:t>Course: CSC3218 Deep Learning</a:t>
            </a:r>
            <a:br>
              <a:rPr lang="en-US" b="1" dirty="0"/>
            </a:br>
            <a:r>
              <a:rPr lang="en-US" b="1" dirty="0"/>
              <a:t>Name: Wangolo Bachawa</a:t>
            </a:r>
            <a:br>
              <a:rPr lang="en-US" b="1" dirty="0"/>
            </a:br>
            <a:r>
              <a:rPr lang="en-US" b="1" dirty="0"/>
              <a:t>Reg No: M23B23/042</a:t>
            </a:r>
            <a:br>
              <a:rPr lang="en-US" b="1" dirty="0"/>
            </a:br>
            <a:r>
              <a:rPr lang="en-US" b="1" dirty="0"/>
              <a:t>Date: April 2026</a:t>
            </a:r>
          </a:p>
        </p:txBody>
      </p:sp>
    </p:spTree>
    <p:extLst>
      <p:ext uri="{BB962C8B-B14F-4D97-AF65-F5344CB8AC3E}">
        <p14:creationId xmlns:p14="http://schemas.microsoft.com/office/powerpoint/2010/main" val="6016784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72A8FE-2B97-B234-990E-C0F20C028A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2C6C19-A36A-ED9A-C80E-2CBA13DD77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Problem:  Image Classification</a:t>
            </a:r>
            <a:br>
              <a:rPr lang="en-US" dirty="0"/>
            </a:br>
            <a:r>
              <a:rPr lang="en-US" dirty="0"/>
              <a:t>Goal:  Automatically classify images into 10 categories</a:t>
            </a:r>
            <a:br>
              <a:rPr lang="en-US" dirty="0"/>
            </a:br>
            <a:r>
              <a:rPr lang="en-US" dirty="0"/>
              <a:t>Example classes:  airplane, car, bird, cat, deer, dog, frog, horse, ship, truck</a:t>
            </a:r>
            <a:br>
              <a:rPr lang="en-US" dirty="0"/>
            </a:br>
            <a:r>
              <a:rPr lang="en-US" dirty="0"/>
              <a:t>Challenge:  Images are small (32×32) and complex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912F9E3-2249-F71E-C8DA-E07600E125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8035" y="3918857"/>
            <a:ext cx="6200502" cy="2856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60393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0FCF28-7B4F-35CF-E8D4-289E73D7E8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D309B5-CF21-A6B2-C117-CEBEE3D1C8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Dataset: CIFAR-10</a:t>
            </a:r>
          </a:p>
          <a:p>
            <a:r>
              <a:rPr lang="en-US" dirty="0"/>
              <a:t>60,000 images </a:t>
            </a:r>
          </a:p>
          <a:p>
            <a:r>
              <a:rPr lang="en-US" dirty="0"/>
              <a:t>10 classes </a:t>
            </a:r>
          </a:p>
          <a:p>
            <a:r>
              <a:rPr lang="en-US" dirty="0"/>
              <a:t>32×32 color images </a:t>
            </a:r>
          </a:p>
          <a:p>
            <a:r>
              <a:rPr lang="en-US" dirty="0"/>
              <a:t>Balanced dataset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2400" dirty="0"/>
              <a:t>This dataset provides the CIFAR-10 image dataset, a widely used benchmark for image classification tasks. It contains 60,000 32x32 color images belonging to 10 different classes, with 6,000 images per class.</a:t>
            </a:r>
          </a:p>
        </p:txBody>
      </p:sp>
    </p:spTree>
    <p:extLst>
      <p:ext uri="{BB962C8B-B14F-4D97-AF65-F5344CB8AC3E}">
        <p14:creationId xmlns:p14="http://schemas.microsoft.com/office/powerpoint/2010/main" val="23004105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25028E-689F-50C9-3C16-99ECBB2ACB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Preparation</a:t>
            </a:r>
            <a:endParaRPr lang="en-US" dirty="0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892015-737D-2322-4813-E19AF1C4CA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Data Preparation Steps:</a:t>
            </a:r>
          </a:p>
          <a:p>
            <a:r>
              <a:rPr lang="en-US" dirty="0"/>
              <a:t>Normalization (scale pixel values) – </a:t>
            </a:r>
            <a:r>
              <a:rPr lang="en-US" sz="2400" dirty="0"/>
              <a:t>the model to learn faster</a:t>
            </a:r>
          </a:p>
          <a:p>
            <a:r>
              <a:rPr lang="en-US" dirty="0"/>
              <a:t>Train/Validation/Test split (80/10/10) </a:t>
            </a:r>
          </a:p>
          <a:p>
            <a:r>
              <a:rPr lang="en-US" dirty="0"/>
              <a:t>Data augmentation:  - </a:t>
            </a:r>
            <a:r>
              <a:rPr lang="en-US" sz="2400" dirty="0"/>
              <a:t>to increase dataset diversity and reduce overfitting</a:t>
            </a:r>
            <a:br>
              <a:rPr lang="en-US" dirty="0"/>
            </a:br>
            <a:r>
              <a:rPr lang="en-US" dirty="0"/>
              <a:t>• Random crop</a:t>
            </a:r>
            <a:br>
              <a:rPr lang="en-US" dirty="0"/>
            </a:br>
            <a:r>
              <a:rPr lang="en-US" dirty="0"/>
              <a:t>• Horizontal flip</a:t>
            </a:r>
            <a:br>
              <a:rPr lang="en-US" dirty="0"/>
            </a:br>
            <a:r>
              <a:rPr lang="en-US" dirty="0"/>
              <a:t>• Rotation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87872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EA4382-363A-6881-8A0E-6C97C44A4A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Model Architecture</a:t>
            </a:r>
            <a:endParaRPr lang="en-US" dirty="0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FE5D7B-F4BD-C4AE-E07D-F05BAFE6F1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CNN Architecture:</a:t>
            </a:r>
            <a:br>
              <a:rPr lang="en-US" dirty="0"/>
            </a:br>
            <a:r>
              <a:rPr lang="en-US" dirty="0"/>
              <a:t>Conv → BatchNorm → ReLU → Pool → Dropout</a:t>
            </a:r>
            <a:br>
              <a:rPr lang="en-US" dirty="0"/>
            </a:br>
            <a:r>
              <a:rPr lang="en-US" dirty="0"/>
              <a:t>Repeated multiple times</a:t>
            </a:r>
            <a:br>
              <a:rPr lang="en-US" dirty="0"/>
            </a:br>
            <a:r>
              <a:rPr lang="en-US" dirty="0"/>
              <a:t>Global Average Pooling</a:t>
            </a:r>
            <a:br>
              <a:rPr lang="en-US" dirty="0"/>
            </a:br>
            <a:r>
              <a:rPr lang="en-US" dirty="0"/>
              <a:t>Fully Connected Layer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09F3B6C-6769-17C6-1AC9-457ACE54F9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5211" y="3324497"/>
            <a:ext cx="7367452" cy="3429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F6E4885-CADC-1AA2-D88B-27E80F85B78B}"/>
              </a:ext>
            </a:extLst>
          </p:cNvPr>
          <p:cNvSpPr txBox="1"/>
          <p:nvPr/>
        </p:nvSpPr>
        <p:spPr>
          <a:xfrm>
            <a:off x="10877006" y="5808617"/>
            <a:ext cx="1314994" cy="3831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10  classes</a:t>
            </a:r>
          </a:p>
        </p:txBody>
      </p:sp>
    </p:spTree>
    <p:extLst>
      <p:ext uri="{BB962C8B-B14F-4D97-AF65-F5344CB8AC3E}">
        <p14:creationId xmlns:p14="http://schemas.microsoft.com/office/powerpoint/2010/main" val="35379050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2895FD-A3B1-9AD4-A2FD-46C1982114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Training Setup</a:t>
            </a:r>
            <a:endParaRPr lang="en-US" dirty="0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9629F3-A70D-ADFE-C05C-EDD807534E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Training Setup:</a:t>
            </a:r>
          </a:p>
          <a:p>
            <a:r>
              <a:rPr lang="en-US" dirty="0"/>
              <a:t>Framework: PyTorch </a:t>
            </a:r>
          </a:p>
          <a:p>
            <a:r>
              <a:rPr lang="en-US" dirty="0"/>
              <a:t>Optimizer: AdamW </a:t>
            </a:r>
          </a:p>
          <a:p>
            <a:r>
              <a:rPr lang="en-US" dirty="0"/>
              <a:t>Learning rate: 0.003 </a:t>
            </a:r>
          </a:p>
          <a:p>
            <a:r>
              <a:rPr lang="en-US" dirty="0"/>
              <a:t>Batch size: 64/128 </a:t>
            </a:r>
          </a:p>
          <a:p>
            <a:r>
              <a:rPr lang="en-US" dirty="0"/>
              <a:t>Epochs: 25 </a:t>
            </a:r>
          </a:p>
          <a:p>
            <a:r>
              <a:rPr lang="en-US" dirty="0"/>
              <a:t>Loss: </a:t>
            </a:r>
            <a:r>
              <a:rPr lang="en-US" dirty="0" err="1"/>
              <a:t>CrossEntropy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80470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5A963A-24EA-49E8-CABE-767EE8AD45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Results</a:t>
            </a:r>
            <a:endParaRPr lang="en-US" dirty="0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4B2579-395D-14A7-C950-A589A13237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Results:</a:t>
            </a:r>
          </a:p>
          <a:p>
            <a:r>
              <a:rPr lang="en-US" dirty="0"/>
              <a:t>Training accuracy: (0.8974) </a:t>
            </a:r>
          </a:p>
          <a:p>
            <a:r>
              <a:rPr lang="en-US" dirty="0"/>
              <a:t>Validation accuracy: (0.8686) </a:t>
            </a:r>
          </a:p>
          <a:p>
            <a:r>
              <a:rPr lang="en-US" dirty="0"/>
              <a:t>Test accuracy: (0.8588) </a:t>
            </a:r>
          </a:p>
          <a:p>
            <a:r>
              <a:rPr lang="en-US" dirty="0"/>
              <a:t>Loss &amp; Accuracy curves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13B6F11-50DF-951C-F808-A53AF13E2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4068" y="4299031"/>
            <a:ext cx="6653350" cy="2498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73134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E943E-1DC7-05F8-F7B8-DF641C0616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Evaluation Results</a:t>
            </a:r>
            <a:endParaRPr lang="en-US" dirty="0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C012AD-F0E1-EC64-290D-CAEC1114BC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Evaluation Metrics:</a:t>
            </a:r>
          </a:p>
          <a:p>
            <a:r>
              <a:rPr lang="en-US" dirty="0"/>
              <a:t>Accuracy - </a:t>
            </a:r>
            <a:r>
              <a:rPr lang="en-US" sz="2400" dirty="0"/>
              <a:t>shows the overall correctness</a:t>
            </a:r>
          </a:p>
          <a:p>
            <a:r>
              <a:rPr lang="en-US" dirty="0"/>
              <a:t>Precision </a:t>
            </a:r>
            <a:r>
              <a:rPr lang="en-US" sz="2400" dirty="0"/>
              <a:t>- give deeper insight into classification performances</a:t>
            </a:r>
          </a:p>
          <a:p>
            <a:r>
              <a:rPr lang="en-US" dirty="0"/>
              <a:t>Recall </a:t>
            </a:r>
            <a:r>
              <a:rPr lang="en-US" sz="2400" dirty="0"/>
              <a:t>- also give deeper insight into classification performances</a:t>
            </a:r>
          </a:p>
          <a:p>
            <a:r>
              <a:rPr lang="en-US" dirty="0"/>
              <a:t>F1-score </a:t>
            </a:r>
            <a:r>
              <a:rPr lang="en-US" sz="2400" dirty="0"/>
              <a:t>- acts as the bridge that connects them, for a balanced performance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E44C05D-ADD0-B090-55DB-355E1A1711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5611" y="4441370"/>
            <a:ext cx="4127863" cy="2416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90297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4CB4B-99F6-58E7-FCF3-B39D242F41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Analysis</a:t>
            </a:r>
            <a:endParaRPr lang="en-US" dirty="0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CC52C2-5B9E-240F-5A2D-081975C646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Analysis:</a:t>
            </a:r>
          </a:p>
          <a:p>
            <a:r>
              <a:rPr lang="en-US" dirty="0"/>
              <a:t>Model learned general features </a:t>
            </a:r>
          </a:p>
          <a:p>
            <a:r>
              <a:rPr lang="en-US" dirty="0"/>
              <a:t>Some classes are confused (e.g., cat vs dog) </a:t>
            </a:r>
          </a:p>
          <a:p>
            <a:r>
              <a:rPr lang="en-US" dirty="0"/>
              <a:t>Possible issues:</a:t>
            </a:r>
            <a:br>
              <a:rPr lang="en-US" dirty="0"/>
            </a:br>
            <a:r>
              <a:rPr lang="en-US" sz="2400" dirty="0"/>
              <a:t>• Small image size</a:t>
            </a:r>
            <a:br>
              <a:rPr lang="en-US" sz="2400" dirty="0"/>
            </a:br>
            <a:r>
              <a:rPr lang="en-US" sz="2400" dirty="0"/>
              <a:t>• Similar classes</a:t>
            </a:r>
            <a:br>
              <a:rPr lang="en-US" sz="2400" dirty="0"/>
            </a:br>
            <a:r>
              <a:rPr lang="en-US" sz="2400" dirty="0"/>
              <a:t>• Limited training time</a:t>
            </a:r>
          </a:p>
        </p:txBody>
      </p:sp>
    </p:spTree>
    <p:extLst>
      <p:ext uri="{BB962C8B-B14F-4D97-AF65-F5344CB8AC3E}">
        <p14:creationId xmlns:p14="http://schemas.microsoft.com/office/powerpoint/2010/main" val="30293294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00D00-52F2-F9D3-0E1B-175B43165C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endParaRPr lang="en-US" dirty="0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1E2B24-C3CD-B1E5-0985-2F9A5D0146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Conclusion:</a:t>
            </a:r>
          </a:p>
          <a:p>
            <a:r>
              <a:rPr lang="en-US" dirty="0"/>
              <a:t>CNN successfully learned image features </a:t>
            </a:r>
          </a:p>
          <a:p>
            <a:r>
              <a:rPr lang="en-US" dirty="0"/>
              <a:t>Performance depends on tuning and data quality </a:t>
            </a:r>
          </a:p>
          <a:p>
            <a:r>
              <a:rPr lang="en-US" dirty="0"/>
              <a:t>Deep learning is effective for image classification</a:t>
            </a:r>
          </a:p>
        </p:txBody>
      </p:sp>
    </p:spTree>
    <p:extLst>
      <p:ext uri="{BB962C8B-B14F-4D97-AF65-F5344CB8AC3E}">
        <p14:creationId xmlns:p14="http://schemas.microsoft.com/office/powerpoint/2010/main" val="29283107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173</TotalTime>
  <Words>352</Words>
  <Application>Microsoft Office PowerPoint</Application>
  <PresentationFormat>Widescreen</PresentationFormat>
  <Paragraphs>49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Arial</vt:lpstr>
      <vt:lpstr>Calibri</vt:lpstr>
      <vt:lpstr>Calibri Light</vt:lpstr>
      <vt:lpstr>Times New Roman</vt:lpstr>
      <vt:lpstr>Wingdings</vt:lpstr>
      <vt:lpstr>Office Theme</vt:lpstr>
      <vt:lpstr>CIFAR-10 Image Classification using CNN </vt:lpstr>
      <vt:lpstr>Problem Statement</vt:lpstr>
      <vt:lpstr>Dataset</vt:lpstr>
      <vt:lpstr>Data Preparation</vt:lpstr>
      <vt:lpstr>Model Architecture</vt:lpstr>
      <vt:lpstr>Training Setup</vt:lpstr>
      <vt:lpstr>Results</vt:lpstr>
      <vt:lpstr>Evaluation Results</vt:lpstr>
      <vt:lpstr>Analysis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WANGOLO BACHAWA</dc:creator>
  <cp:lastModifiedBy>WANGOLO BACHAWA</cp:lastModifiedBy>
  <cp:revision>62</cp:revision>
  <dcterms:created xsi:type="dcterms:W3CDTF">2026-04-13T05:42:16Z</dcterms:created>
  <dcterms:modified xsi:type="dcterms:W3CDTF">2026-04-15T04:18:03Z</dcterms:modified>
</cp:coreProperties>
</file>